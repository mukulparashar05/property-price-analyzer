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 Master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lt1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</p:spPr>
        <p:txBody>
          <a:bodyPr/>
          <a:lstStyle/>
          <a:p>
            <a:pPr/>
            <a:r>
              <a:rPr lang="en-US" sz="2800" b="1" dirty="0" smtClean="0"/>
              <a:t>House Price Prediction Project</a:t>
            </a:r>
            <a:endParaRPr lang="en-US" sz="2800" b="1" dirty="0"/>
          </a:p>
        </p:txBody>
      </p:sp>
      <p:sp>
        <p:nvSpPr>
          <p:cNvPr id="3" name="Content"/>
          <p:cNvSpPr/>
          <p:nvPr/>
        </p:nvSpPr>
        <p:spPr>
          <a:xfrm>
            <a:off x="685800" y="1463040"/>
            <a:ext cx="7772400" cy="4114800"/>
          </a:xfrm>
          <a:prstGeom prst="rect">
            <a:avLst/>
          </a:prstGeom>
        </p:spPr>
        <p:txBody>
          <a:bodyPr wrap="square"/>
          <a:lstStyle/>
          <a:p>
            <a:pPr lvl="0">
              <a:buChar char="•"/>
            </a:pPr>
            <a:r>
              <a:rPr lang="en-US" sz="2200" dirty="0"/>
              <a:t>Notebook-based machine learning project using California housing data</a:t>
            </a:r>
            <a:endParaRPr lang="en-US" sz="2200" dirty="0"/>
          </a:p>
          <a:p>
            <a:pPr lvl="0">
              <a:buChar char="•"/>
            </a:pPr>
            <a:r>
              <a:rPr lang="en-US" sz="2200" dirty="0"/>
              <a:t>Main goal: understand the data and prepare a reliable price prediction workflow</a:t>
            </a:r>
            <a:endParaRPr lang="en-US" sz="2200" dirty="0"/>
          </a:p>
          <a:p>
            <a:pPr lvl="0">
              <a:buChar char="•"/>
            </a:pPr>
            <a:r>
              <a:rPr lang="en-US" sz="2200" dirty="0"/>
              <a:t>Focus on simple explanation for a general audience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</p:spPr>
        <p:txBody>
          <a:bodyPr/>
          <a:lstStyle/>
          <a:p>
            <a:pPr/>
            <a:r>
              <a:rPr lang="en-US" sz="2800" b="1" dirty="0" smtClean="0"/>
              <a:t>Objectives</a:t>
            </a:r>
            <a:endParaRPr lang="en-US" sz="2800" b="1" dirty="0"/>
          </a:p>
        </p:txBody>
      </p:sp>
      <p:sp>
        <p:nvSpPr>
          <p:cNvPr id="3" name="Content"/>
          <p:cNvSpPr/>
          <p:nvPr/>
        </p:nvSpPr>
        <p:spPr>
          <a:xfrm>
            <a:off x="685800" y="1463040"/>
            <a:ext cx="7772400" cy="4114800"/>
          </a:xfrm>
          <a:prstGeom prst="rect">
            <a:avLst/>
          </a:prstGeom>
        </p:spPr>
        <p:txBody>
          <a:bodyPr wrap="square"/>
          <a:lstStyle/>
          <a:p>
            <a:pPr lvl="0">
              <a:buChar char="•"/>
            </a:pPr>
            <a:r>
              <a:rPr lang="en-US" sz="2200" dirty="0"/>
              <a:t>Analyze important housing features such as income, rooms, location, and population</a:t>
            </a:r>
            <a:endParaRPr lang="en-US" sz="2200" dirty="0"/>
          </a:p>
          <a:p>
            <a:pPr lvl="0">
              <a:buChar char="•"/>
            </a:pPr>
            <a:r>
              <a:rPr lang="en-US" sz="2200" dirty="0"/>
              <a:t>Predict median house value from historical housing data</a:t>
            </a:r>
            <a:endParaRPr lang="en-US" sz="2200" dirty="0"/>
          </a:p>
          <a:p>
            <a:pPr lvl="0">
              <a:buChar char="•"/>
            </a:pPr>
            <a:r>
              <a:rPr lang="en-US" sz="2200" dirty="0"/>
              <a:t>Identify patterns, missing values, outliers, and correlations before modeling</a:t>
            </a:r>
            <a:endParaRPr lang="en-US" sz="2200" dirty="0"/>
          </a:p>
          <a:p>
            <a:pPr lvl="0">
              <a:buChar char="•"/>
            </a:pPr>
            <a:r>
              <a:rPr lang="en-US" sz="2200" dirty="0"/>
              <a:t>Build a clean machine learning workflow with preprocessing and evaluation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</p:spPr>
        <p:txBody>
          <a:bodyPr/>
          <a:lstStyle/>
          <a:p>
            <a:pPr/>
            <a:r>
              <a:rPr lang="en-US" sz="2800" b="1" dirty="0" smtClean="0"/>
              <a:t>Dataset Overview</a:t>
            </a:r>
            <a:endParaRPr lang="en-US" sz="2800" b="1" dirty="0"/>
          </a:p>
        </p:txBody>
      </p:sp>
      <p:sp>
        <p:nvSpPr>
          <p:cNvPr id="3" name="Content"/>
          <p:cNvSpPr/>
          <p:nvPr/>
        </p:nvSpPr>
        <p:spPr>
          <a:xfrm>
            <a:off x="685800" y="1463040"/>
            <a:ext cx="7772400" cy="4114800"/>
          </a:xfrm>
          <a:prstGeom prst="rect">
            <a:avLst/>
          </a:prstGeom>
        </p:spPr>
        <p:txBody>
          <a:bodyPr wrap="square"/>
          <a:lstStyle/>
          <a:p>
            <a:pPr lvl="0">
              <a:buChar char="•"/>
            </a:pPr>
            <a:r>
              <a:rPr lang="en-US" sz="2200" dirty="0"/>
              <a:t>Dataset: California housing dataset with 20,640 rows and 10 columns</a:t>
            </a:r>
            <a:endParaRPr lang="en-US" sz="2200" dirty="0"/>
          </a:p>
          <a:p>
            <a:pPr lvl="0">
              <a:buChar char="•"/>
            </a:pPr>
            <a:r>
              <a:rPr lang="en-US" sz="2200" dirty="0"/>
              <a:t>Target variable: median_house_value</a:t>
            </a:r>
            <a:endParaRPr lang="en-US" sz="2200" dirty="0"/>
          </a:p>
          <a:p>
            <a:pPr lvl="0">
              <a:buChar char="•"/>
            </a:pPr>
            <a:r>
              <a:rPr lang="en-US" sz="2200" dirty="0"/>
              <a:t>Important features: longitude, latitude, total_rooms, total_bedrooms, population, households, median_income, ocean_proximity</a:t>
            </a:r>
            <a:endParaRPr lang="en-US" sz="2200" dirty="0"/>
          </a:p>
          <a:p>
            <a:pPr lvl="0">
              <a:buChar char="•"/>
            </a:pPr>
            <a:r>
              <a:rPr lang="en-US" sz="2200" dirty="0"/>
              <a:t>One categorical feature: ocean_proximity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</p:spPr>
        <p:txBody>
          <a:bodyPr/>
          <a:lstStyle/>
          <a:p>
            <a:pPr/>
            <a:r>
              <a:rPr lang="en-US" sz="2800" b="1" dirty="0" smtClean="0"/>
              <a:t>ML Model</a:t>
            </a:r>
            <a:endParaRPr lang="en-US" sz="2800" b="1" dirty="0"/>
          </a:p>
        </p:txBody>
      </p:sp>
      <p:sp>
        <p:nvSpPr>
          <p:cNvPr id="3" name="Content"/>
          <p:cNvSpPr/>
          <p:nvPr/>
        </p:nvSpPr>
        <p:spPr>
          <a:xfrm>
            <a:off x="685800" y="1463040"/>
            <a:ext cx="7772400" cy="4114800"/>
          </a:xfrm>
          <a:prstGeom prst="rect">
            <a:avLst/>
          </a:prstGeom>
        </p:spPr>
        <p:txBody>
          <a:bodyPr wrap="square"/>
          <a:lstStyle/>
          <a:p>
            <a:pPr lvl="0">
              <a:buChar char="•"/>
            </a:pPr>
            <a:r>
              <a:rPr lang="en-US" sz="2200" dirty="0"/>
              <a:t>Preprocessing plan: median imputation, one-hot encoding, and scaling for linear models</a:t>
            </a:r>
            <a:endParaRPr lang="en-US" sz="2200" dirty="0"/>
          </a:p>
          <a:p>
            <a:pPr lvl="0">
              <a:buChar char="•"/>
            </a:pPr>
            <a:r>
              <a:rPr lang="en-US" sz="2200" dirty="0"/>
              <a:t>Training setup: train/test split with reproducible random state</a:t>
            </a:r>
            <a:endParaRPr lang="en-US" sz="2200" dirty="0"/>
          </a:p>
          <a:p>
            <a:pPr lvl="0">
              <a:buChar char="•"/>
            </a:pPr>
            <a:r>
              <a:rPr lang="en-US" sz="2200" dirty="0"/>
              <a:t>Candidate models: Linear Regression, Ridge, Lasso, Random Forest, and HistGradientBoosting</a:t>
            </a:r>
            <a:endParaRPr lang="en-US" sz="2200" dirty="0"/>
          </a:p>
          <a:p>
            <a:pPr lvl="0">
              <a:buChar char="•"/>
            </a:pPr>
            <a:r>
              <a:rPr lang="en-US" sz="2200" dirty="0"/>
              <a:t>Evaluation metrics: RMSE, MAE, and R-squared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</p:spPr>
        <p:txBody>
          <a:bodyPr/>
          <a:lstStyle/>
          <a:p>
            <a:pPr/>
            <a:r>
              <a:rPr lang="en-US" sz="2800" b="1" dirty="0" smtClean="0"/>
              <a:t>Architecture Diagram</a:t>
            </a:r>
            <a:endParaRPr lang="en-US" sz="2800" b="1" dirty="0"/>
          </a:p>
        </p:txBody>
      </p:sp>
      <p:sp>
        <p:nvSpPr>
          <p:cNvPr id="10" name="Diagram 10"/>
          <p:cNvSpPr/>
          <p:nvPr/>
        </p:nvSpPr>
        <p:spPr>
          <a:xfrm>
            <a:off x="480000" y="2100000"/>
            <a:ext cx="1080000" cy="720000"/>
          </a:xfrm>
          <a:prstGeom prst="roundRect">
            <a:avLst/>
          </a:prstGeom>
          <a:solidFill>
            <a:srgbClr val="DCEFE7"/>
          </a:solidFill>
          <a:ln w="12700">
            <a:solidFill>
              <a:srgbClr val="2F6B5A"/>
            </a:solidFill>
          </a:ln>
        </p:spPr>
        <p:txBody>
          <a:bodyPr anchor="ctr" wrap="square"/>
          <a:lstStyle/>
          <a:p>
            <a:pPr/>
            <a:r>
              <a:rPr lang="en-US" sz="2200" dirty="0"/>
              <a:t>Housing CSV Data</a:t>
            </a:r>
            <a:endParaRPr lang="en-US" sz="2200" dirty="0"/>
          </a:p>
        </p:txBody>
      </p:sp>
      <p:cxnSp>
        <p:nvCxnSpPr>
          <p:cNvPr id="110" name="Arrow 10"/>
          <p:cNvCxnSpPr/>
          <p:nvPr/>
        </p:nvCxnSpPr>
        <p:spPr>
          <a:xfrm>
            <a:off x="1560000" y="2430000"/>
            <a:ext cx="180000" cy="1"/>
          </a:xfrm>
          <a:prstGeom prst="straightConnector1">
            <a:avLst/>
          </a:prstGeom>
          <a:ln w="19050" cap="rnd">
            <a:solidFill>
              <a:srgbClr val="C97B2A"/>
            </a:solidFill>
            <a:tailEnd type="none"/>
            <a:headEnd type="triangle"/>
          </a:ln>
        </p:spPr>
      </p:cxnSp>
      <p:sp>
        <p:nvSpPr>
          <p:cNvPr id="11" name="Diagram 11"/>
          <p:cNvSpPr/>
          <p:nvPr/>
        </p:nvSpPr>
        <p:spPr>
          <a:xfrm>
            <a:off x="1740000" y="2100000"/>
            <a:ext cx="1080000" cy="720000"/>
          </a:xfrm>
          <a:prstGeom prst="roundRect">
            <a:avLst/>
          </a:prstGeom>
          <a:solidFill>
            <a:srgbClr val="DCEFE7"/>
          </a:solidFill>
          <a:ln w="12700">
            <a:solidFill>
              <a:srgbClr val="2F6B5A"/>
            </a:solidFill>
          </a:ln>
        </p:spPr>
        <p:txBody>
          <a:bodyPr anchor="ctr" wrap="square"/>
          <a:lstStyle/>
          <a:p>
            <a:pPr/>
            <a:r>
              <a:rPr lang="en-US" sz="2200" dirty="0"/>
              <a:t>EDA and Cleaning</a:t>
            </a:r>
            <a:endParaRPr lang="en-US" sz="2200" dirty="0"/>
          </a:p>
        </p:txBody>
      </p:sp>
      <p:cxnSp>
        <p:nvCxnSpPr>
          <p:cNvPr id="111" name="Arrow 11"/>
          <p:cNvCxnSpPr/>
          <p:nvPr/>
        </p:nvCxnSpPr>
        <p:spPr>
          <a:xfrm>
            <a:off x="2820000" y="2430000"/>
            <a:ext cx="180000" cy="1"/>
          </a:xfrm>
          <a:prstGeom prst="straightConnector1">
            <a:avLst/>
          </a:prstGeom>
          <a:ln w="19050" cap="rnd">
            <a:solidFill>
              <a:srgbClr val="C97B2A"/>
            </a:solidFill>
            <a:tailEnd type="none"/>
            <a:headEnd type="triangle"/>
          </a:ln>
        </p:spPr>
      </p:cxnSp>
      <p:sp>
        <p:nvSpPr>
          <p:cNvPr id="12" name="Diagram 12"/>
          <p:cNvSpPr/>
          <p:nvPr/>
        </p:nvSpPr>
        <p:spPr>
          <a:xfrm>
            <a:off x="3000000" y="2100000"/>
            <a:ext cx="1080000" cy="720000"/>
          </a:xfrm>
          <a:prstGeom prst="roundRect">
            <a:avLst/>
          </a:prstGeom>
          <a:solidFill>
            <a:srgbClr val="DCEFE7"/>
          </a:solidFill>
          <a:ln w="12700">
            <a:solidFill>
              <a:srgbClr val="2F6B5A"/>
            </a:solidFill>
          </a:ln>
        </p:spPr>
        <p:txBody>
          <a:bodyPr anchor="ctr" wrap="square"/>
          <a:lstStyle/>
          <a:p>
            <a:pPr/>
            <a:r>
              <a:rPr lang="en-US" sz="2200" dirty="0"/>
              <a:t>Preprocessing</a:t>
            </a:r>
            <a:endParaRPr lang="en-US" sz="2200" dirty="0"/>
          </a:p>
        </p:txBody>
      </p:sp>
      <p:cxnSp>
        <p:nvCxnSpPr>
          <p:cNvPr id="112" name="Arrow 12"/>
          <p:cNvCxnSpPr/>
          <p:nvPr/>
        </p:nvCxnSpPr>
        <p:spPr>
          <a:xfrm>
            <a:off x="4080000" y="2430000"/>
            <a:ext cx="180000" cy="1"/>
          </a:xfrm>
          <a:prstGeom prst="straightConnector1">
            <a:avLst/>
          </a:prstGeom>
          <a:ln w="19050" cap="rnd">
            <a:solidFill>
              <a:srgbClr val="C97B2A"/>
            </a:solidFill>
            <a:tailEnd type="none"/>
            <a:headEnd type="triangle"/>
          </a:ln>
        </p:spPr>
      </p:cxnSp>
      <p:sp>
        <p:nvSpPr>
          <p:cNvPr id="13" name="Diagram 13"/>
          <p:cNvSpPr/>
          <p:nvPr/>
        </p:nvSpPr>
        <p:spPr>
          <a:xfrm>
            <a:off x="4260000" y="2100000"/>
            <a:ext cx="1080000" cy="720000"/>
          </a:xfrm>
          <a:prstGeom prst="roundRect">
            <a:avLst/>
          </a:prstGeom>
          <a:solidFill>
            <a:srgbClr val="DCEFE7"/>
          </a:solidFill>
          <a:ln w="12700">
            <a:solidFill>
              <a:srgbClr val="2F6B5A"/>
            </a:solidFill>
          </a:ln>
        </p:spPr>
        <p:txBody>
          <a:bodyPr anchor="ctr" wrap="square"/>
          <a:lstStyle/>
          <a:p>
            <a:pPr/>
            <a:r>
              <a:rPr lang="en-US" sz="2200" dirty="0"/>
              <a:t>Train/Test Split</a:t>
            </a:r>
            <a:endParaRPr lang="en-US" sz="2200" dirty="0"/>
          </a:p>
        </p:txBody>
      </p:sp>
      <p:cxnSp>
        <p:nvCxnSpPr>
          <p:cNvPr id="113" name="Arrow 13"/>
          <p:cNvCxnSpPr/>
          <p:nvPr/>
        </p:nvCxnSpPr>
        <p:spPr>
          <a:xfrm>
            <a:off x="5340000" y="2430000"/>
            <a:ext cx="180000" cy="1"/>
          </a:xfrm>
          <a:prstGeom prst="straightConnector1">
            <a:avLst/>
          </a:prstGeom>
          <a:ln w="19050" cap="rnd">
            <a:solidFill>
              <a:srgbClr val="C97B2A"/>
            </a:solidFill>
            <a:tailEnd type="none"/>
            <a:headEnd type="triangle"/>
          </a:ln>
        </p:spPr>
      </p:cxnSp>
      <p:sp>
        <p:nvSpPr>
          <p:cNvPr id="14" name="Diagram 14"/>
          <p:cNvSpPr/>
          <p:nvPr/>
        </p:nvSpPr>
        <p:spPr>
          <a:xfrm>
            <a:off x="5520000" y="2100000"/>
            <a:ext cx="1080000" cy="720000"/>
          </a:xfrm>
          <a:prstGeom prst="roundRect">
            <a:avLst/>
          </a:prstGeom>
          <a:solidFill>
            <a:srgbClr val="DCEFE7"/>
          </a:solidFill>
          <a:ln w="12700">
            <a:solidFill>
              <a:srgbClr val="2F6B5A"/>
            </a:solidFill>
          </a:ln>
        </p:spPr>
        <p:txBody>
          <a:bodyPr anchor="ctr" wrap="square"/>
          <a:lstStyle/>
          <a:p>
            <a:pPr/>
            <a:r>
              <a:rPr lang="en-US" sz="2200" dirty="0"/>
              <a:t>Model Training</a:t>
            </a:r>
            <a:endParaRPr lang="en-US" sz="2200" dirty="0"/>
          </a:p>
        </p:txBody>
      </p:sp>
      <p:cxnSp>
        <p:nvCxnSpPr>
          <p:cNvPr id="114" name="Arrow 14"/>
          <p:cNvCxnSpPr/>
          <p:nvPr/>
        </p:nvCxnSpPr>
        <p:spPr>
          <a:xfrm>
            <a:off x="6600000" y="2430000"/>
            <a:ext cx="180000" cy="1"/>
          </a:xfrm>
          <a:prstGeom prst="straightConnector1">
            <a:avLst/>
          </a:prstGeom>
          <a:ln w="19050" cap="rnd">
            <a:solidFill>
              <a:srgbClr val="C97B2A"/>
            </a:solidFill>
            <a:tailEnd type="none"/>
            <a:headEnd type="triangle"/>
          </a:ln>
        </p:spPr>
      </p:cxnSp>
      <p:sp>
        <p:nvSpPr>
          <p:cNvPr id="15" name="Diagram 15"/>
          <p:cNvSpPr/>
          <p:nvPr/>
        </p:nvSpPr>
        <p:spPr>
          <a:xfrm>
            <a:off x="6780000" y="2100000"/>
            <a:ext cx="1080000" cy="720000"/>
          </a:xfrm>
          <a:prstGeom prst="roundRect">
            <a:avLst/>
          </a:prstGeom>
          <a:solidFill>
            <a:srgbClr val="DCEFE7"/>
          </a:solidFill>
          <a:ln w="12700">
            <a:solidFill>
              <a:srgbClr val="2F6B5A"/>
            </a:solidFill>
          </a:ln>
        </p:spPr>
        <p:txBody>
          <a:bodyPr anchor="ctr" wrap="square"/>
          <a:lstStyle/>
          <a:p>
            <a:pPr/>
            <a:r>
              <a:rPr lang="en-US" sz="2200" dirty="0"/>
              <a:t>Evaluation</a:t>
            </a:r>
            <a:endParaRPr lang="en-US" sz="2200" dirty="0"/>
          </a:p>
        </p:txBody>
      </p:sp>
      <p:cxnSp>
        <p:nvCxnSpPr>
          <p:cNvPr id="115" name="Arrow 15"/>
          <p:cNvCxnSpPr/>
          <p:nvPr/>
        </p:nvCxnSpPr>
        <p:spPr>
          <a:xfrm>
            <a:off x="7860000" y="2430000"/>
            <a:ext cx="180000" cy="1"/>
          </a:xfrm>
          <a:prstGeom prst="straightConnector1">
            <a:avLst/>
          </a:prstGeom>
          <a:ln w="19050" cap="rnd">
            <a:solidFill>
              <a:srgbClr val="C97B2A"/>
            </a:solidFill>
            <a:tailEnd type="none"/>
            <a:headEnd type="triangle"/>
          </a:ln>
        </p:spPr>
      </p:cxnSp>
      <p:sp>
        <p:nvSpPr>
          <p:cNvPr id="16" name="Diagram 16"/>
          <p:cNvSpPr/>
          <p:nvPr/>
        </p:nvSpPr>
        <p:spPr>
          <a:xfrm>
            <a:off x="8040000" y="2100000"/>
            <a:ext cx="1080000" cy="720000"/>
          </a:xfrm>
          <a:prstGeom prst="roundRect">
            <a:avLst/>
          </a:prstGeom>
          <a:solidFill>
            <a:srgbClr val="DCEFE7"/>
          </a:solidFill>
          <a:ln w="12700">
            <a:solidFill>
              <a:srgbClr val="2F6B5A"/>
            </a:solidFill>
          </a:ln>
        </p:spPr>
        <p:txBody>
          <a:bodyPr anchor="ctr" wrap="square"/>
          <a:lstStyle/>
          <a:p>
            <a:pPr/>
            <a:r>
              <a:rPr lang="en-US" sz="2200" dirty="0"/>
              <a:t>Price Prediction</a:t>
            </a:r>
            <a:endParaRPr lang="en-US" sz="2200" dirty="0"/>
          </a:p>
        </p:txBody>
      </p:sp>
      <p:sp>
        <p:nvSpPr>
          <p:cNvPr id="99" name="Footer"/>
          <p:cNvSpPr/>
          <p:nvPr/>
        </p:nvSpPr>
        <p:spPr>
          <a:xfrm>
            <a:off x="685800" y="5000000"/>
            <a:ext cx="7772400" cy="7200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sz="2200" dirty="0"/>
              <a:t>Flow: raw dataset to cleaned features to trained model to predicted house price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Theme">
  <a:themeElements>
    <a:clrScheme name="Simple">
      <a:dk1>
        <a:srgbClr val="1F2937"/>
      </a:dk1>
      <a:lt1>
        <a:srgbClr val="FFFFFF"/>
      </a:lt1>
      <a:dk2>
        <a:srgbClr val="374151"/>
      </a:dk2>
      <a:lt2>
        <a:srgbClr val="F7F4EC"/>
      </a:lt2>
      <a:accent1>
        <a:srgbClr val="2F6B5A"/>
      </a:accent1>
      <a:accent2>
        <a:srgbClr val="C97B2A"/>
      </a:accent2>
      <a:accent3>
        <a:srgbClr val="5B8DEF"/>
      </a:accent3>
      <a:accent4>
        <a:srgbClr val="C14953"/>
      </a:accent4>
      <a:accent5>
        <a:srgbClr val="6B7280"/>
      </a:accent5>
      <a:accent6>
        <a:srgbClr val="111827"/>
      </a:accent6>
      <a:hlink>
        <a:srgbClr val="2563EB"/>
      </a:hlink>
      <a:folHlink>
        <a:srgbClr val="7C3AED"/>
      </a:folHlink>
    </a:clrScheme>
    <a:fontScheme name="Simple Fonts">
      <a:majorFont>
        <a:latin typeface="Aptos Display"/>
      </a:majorFont>
      <a:minorFont>
        <a:latin typeface="Aptos"/>
      </a:minorFont>
    </a:fontScheme>
    <a:fmtScheme name="Simple Format">
      <a:fillStyleLst>
        <a:solidFill>
          <a:schemeClr val="accent1"/>
        </a:soli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lt2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5</Slides>
  <Notes>0</Notes>
  <HiddenSlides>0</HiddenSlides>
  <MMClips>0</MMClips>
  <PresentationFormat>On-screen Show (4:3)</PresentationFormat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Prediction Project</dc:title>
  <dc:creator>Codex</dc:creator>
  <cp:lastModifiedBy>Codex</cp:lastModifiedBy>
  <dcterms:created xsi:type="dcterms:W3CDTF">2026-04-15T00:00:00Z</dcterms:created>
  <dcterms:modified xsi:type="dcterms:W3CDTF">2026-04-15T00:00:00Z</dcterms:modified>
</cp:coreProperties>
</file>